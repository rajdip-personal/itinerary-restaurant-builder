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Your Workshop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13 steps from PRD to working code — nothing moves forward without your approval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6A9F"/>
                </a:solidFill>
              </a:defRPr>
            </a:pPr>
            <a:r>
              <a:t>You + Claude  (Steps 1–5)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97280"/>
            <a:ext cx="2057400" cy="10972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38328" y="1161288"/>
            <a:ext cx="256032" cy="256032"/>
          </a:xfrm>
          <a:prstGeom prst="roundRect">
            <a:avLst/>
          </a:prstGeom>
          <a:solidFill>
            <a:srgbClr val="2D6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6A9F"/>
                </a:solidFill>
              </a:defRPr>
            </a:pPr>
            <a:r>
              <a:t>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26464"/>
            <a:ext cx="1874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1A"/>
                </a:solidFill>
              </a:defRPr>
            </a:pPr>
            <a:r>
              <a:t>Verify environment</a:t>
            </a:r>
            <a:br/>
            <a:r>
              <a:t>Pick team 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417320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D6A9F"/>
                </a:solidFill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87752" y="1097280"/>
            <a:ext cx="2057400" cy="10972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51760" y="1161288"/>
            <a:ext cx="256032" cy="256032"/>
          </a:xfrm>
          <a:prstGeom prst="roundRect">
            <a:avLst/>
          </a:prstGeom>
          <a:solidFill>
            <a:srgbClr val="2D6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114300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6A9F"/>
                </a:solidFill>
              </a:defRPr>
            </a:pPr>
            <a:r>
              <a:t>Pick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1426464"/>
            <a:ext cx="1874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1A"/>
                </a:solidFill>
              </a:defRPr>
            </a:pPr>
            <a:r>
              <a:t>Choose pre-built or</a:t>
            </a:r>
            <a:br/>
            <a:r>
              <a:t>create your 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417320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D6A9F"/>
                </a:solidFill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01184" y="1097280"/>
            <a:ext cx="2057400" cy="10972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965192" y="1161288"/>
            <a:ext cx="256032" cy="256032"/>
          </a:xfrm>
          <a:prstGeom prst="roundRect">
            <a:avLst/>
          </a:prstGeom>
          <a:solidFill>
            <a:srgbClr val="2D6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6944" y="114300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6A9F"/>
                </a:solidFill>
              </a:defRPr>
            </a:pPr>
            <a:r>
              <a:t>Read PRD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2624" y="1426464"/>
            <a:ext cx="1874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1A"/>
                </a:solidFill>
              </a:defRPr>
            </a:pPr>
            <a:r>
              <a:t>Everyone reads the PRD</a:t>
            </a:r>
            <a:br/>
            <a:r>
              <a:t>Type ‘ready’ to continue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2624" y="1965960"/>
            <a:ext cx="1874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D6A9F"/>
                </a:solidFill>
              </a:defRPr>
            </a:pPr>
            <a:r>
              <a:t>⏸ GATE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8584" y="1417320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D6A9F"/>
                </a:solidFill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14616" y="1097280"/>
            <a:ext cx="2057400" cy="10972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78624" y="1161288"/>
            <a:ext cx="256032" cy="256032"/>
          </a:xfrm>
          <a:prstGeom prst="roundRect">
            <a:avLst/>
          </a:prstGeom>
          <a:solidFill>
            <a:srgbClr val="2D6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0376" y="114300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6A9F"/>
                </a:solidFill>
              </a:defRPr>
            </a:pPr>
            <a:r>
              <a:t>Refine PRD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06056" y="1426464"/>
            <a:ext cx="1874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1A"/>
                </a:solidFill>
              </a:defRPr>
            </a:pPr>
            <a:r>
              <a:t>Answer Claude’s questions</a:t>
            </a:r>
            <a:br/>
            <a:r>
              <a:t>about your PRD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06056" y="1965960"/>
            <a:ext cx="1874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D6A9F"/>
                </a:solidFill>
              </a:defRPr>
            </a:pPr>
            <a:r>
              <a:t>↻ Iterate until ready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2016" y="1417320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D6A9F"/>
                </a:solidFill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28048" y="1097280"/>
            <a:ext cx="2057400" cy="10972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592056" y="1161288"/>
            <a:ext cx="256032" cy="256032"/>
          </a:xfrm>
          <a:prstGeom prst="roundRect">
            <a:avLst/>
          </a:prstGeom>
          <a:solidFill>
            <a:srgbClr val="2D6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93808" y="114300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6A9F"/>
                </a:solidFill>
              </a:defRPr>
            </a:pPr>
            <a:r>
              <a:t>Review Questions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426464"/>
            <a:ext cx="1874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1A"/>
                </a:solidFill>
              </a:defRPr>
            </a:pPr>
            <a:r>
              <a:t>Resolve each open</a:t>
            </a:r>
            <a:br/>
            <a:r>
              <a:t>question one by 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1965960"/>
            <a:ext cx="1874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D6A9F"/>
                </a:solidFill>
              </a:defRPr>
            </a:pPr>
            <a:r>
              <a:t>↻ Iterate per question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" y="2331720"/>
            <a:ext cx="11643055" cy="347472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E65C00"/>
                </a:solidFill>
              </a:defRPr>
            </a:pPr>
            <a:r>
              <a:t>HANDOFF →  Agent Team coordinates from here.  Agents generate — you review and approve.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27889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</a:defRPr>
            </a:pPr>
            <a:r>
              <a:t>Agents Generate, You Approve  (Steps 6–13)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3063240"/>
            <a:ext cx="2697480" cy="10972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38328" y="3127248"/>
            <a:ext cx="256032" cy="25603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108960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7D32"/>
                </a:solidFill>
              </a:defRPr>
            </a:pPr>
            <a:r>
              <a:t>Execution Plan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3392424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1A"/>
                </a:solidFill>
              </a:defRPr>
            </a:pPr>
            <a:r>
              <a:t>Review the plan</a:t>
            </a:r>
            <a:br/>
            <a:r>
              <a:t>Approve, revise, or re-run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3931920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E7D32"/>
                </a:solidFill>
              </a:defRPr>
            </a:pPr>
            <a:r>
              <a:t>↻ Iterate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3383280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7D32"/>
                </a:solidFill>
              </a:defRPr>
            </a:pPr>
            <a:r>
              <a:t>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27832" y="3063240"/>
            <a:ext cx="2697480" cy="10972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291840" y="3127248"/>
            <a:ext cx="256032" cy="25603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3592" y="3108960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7D32"/>
                </a:solidFill>
              </a:defRPr>
            </a:pPr>
            <a:r>
              <a:t>Requirements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19272" y="3392424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1A"/>
                </a:solidFill>
              </a:defRPr>
            </a:pPr>
            <a:r>
              <a:t>Review requirements</a:t>
            </a:r>
            <a:br/>
            <a:r>
              <a:t>Approve, revise, or re-run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19272" y="3931920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E7D32"/>
                </a:solidFill>
              </a:defRPr>
            </a:pPr>
            <a:r>
              <a:t>↻ Iterate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25312" y="3383280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7D32"/>
                </a:solidFill>
              </a:defRPr>
            </a:pPr>
            <a:r>
              <a:t>→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81344" y="3063240"/>
            <a:ext cx="2697480" cy="10972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245352" y="3127248"/>
            <a:ext cx="256032" cy="25603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47104" y="3108960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7D32"/>
                </a:solidFill>
              </a:defRPr>
            </a:pPr>
            <a:r>
              <a:t>Technical Design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72784" y="3392424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1A"/>
                </a:solidFill>
              </a:defRPr>
            </a:pPr>
            <a:r>
              <a:t>Review the design</a:t>
            </a:r>
            <a:br/>
            <a:r>
              <a:t>Approve, revise, or re-run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72784" y="3931920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E7D32"/>
                </a:solidFill>
              </a:defRPr>
            </a:pPr>
            <a:r>
              <a:t>↻ Iterate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78824" y="3383280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7D32"/>
                </a:solidFill>
              </a:defRPr>
            </a:pPr>
            <a:r>
              <a:t>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4856" y="3063240"/>
            <a:ext cx="2697480" cy="10972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98864" y="3127248"/>
            <a:ext cx="256032" cy="25603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00616" y="3108960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7D32"/>
                </a:solidFill>
              </a:defRPr>
            </a:pPr>
            <a:r>
              <a:t>UI Prototype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26296" y="3392424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1A"/>
                </a:solidFill>
              </a:defRPr>
            </a:pPr>
            <a:r>
              <a:t>Click through prototype</a:t>
            </a:r>
            <a:br/>
            <a:r>
              <a:t>Give feedback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26296" y="373075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</a:defRPr>
            </a:pPr>
            <a:r>
              <a:t>Skip if no UI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26296" y="3931920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E7D32"/>
                </a:solidFill>
              </a:defRPr>
            </a:pPr>
            <a:r>
              <a:t>↻ Iterate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74320" y="4297680"/>
            <a:ext cx="2697480" cy="10972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38328" y="4361688"/>
            <a:ext cx="256032" cy="25603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4343400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7D32"/>
                </a:solidFill>
              </a:defRPr>
            </a:pPr>
            <a:r>
              <a:t>User Stories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4626864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1A"/>
                </a:solidFill>
              </a:defRPr>
            </a:pPr>
            <a:r>
              <a:t>Review sprint-ready stories</a:t>
            </a:r>
            <a:br/>
            <a:r>
              <a:t>Approve, revise, or re-run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5166360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E7D32"/>
                </a:solidFill>
              </a:defRPr>
            </a:pPr>
            <a:r>
              <a:t>↻ Iterate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71800" y="4617720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7D32"/>
                </a:solidFill>
              </a:defRPr>
            </a:pPr>
            <a:r>
              <a:t>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27832" y="4297680"/>
            <a:ext cx="2697480" cy="10972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3291840" y="4361688"/>
            <a:ext cx="256032" cy="25603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93592" y="4343400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7D32"/>
                </a:solidFill>
              </a:defRPr>
            </a:pPr>
            <a:r>
              <a:t>Validation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319272" y="4626864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1A"/>
                </a:solidFill>
              </a:defRPr>
            </a:pPr>
            <a:r>
              <a:t>Review coverage report</a:t>
            </a:r>
            <a:br/>
            <a:r>
              <a:t>Confirm no gaps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19272" y="5166360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E7D32"/>
                </a:solidFill>
              </a:defRPr>
            </a:pPr>
            <a:r>
              <a:t>↻ Iterate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25312" y="4617720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7D32"/>
                </a:solidFill>
              </a:defRPr>
            </a:pPr>
            <a:r>
              <a:t>→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181344" y="4297680"/>
            <a:ext cx="2697480" cy="10972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245352" y="4361688"/>
            <a:ext cx="256032" cy="25603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47104" y="4343400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7D32"/>
                </a:solidFill>
              </a:defRPr>
            </a:pPr>
            <a:r>
              <a:t>Jira Sync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72784" y="4626864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1A"/>
                </a:solidFill>
              </a:defRPr>
            </a:pPr>
            <a:r>
              <a:t>Provide Jira project key</a:t>
            </a:r>
            <a:br/>
            <a:r>
              <a:t>Stories sync to Jira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78824" y="4617720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7D32"/>
                </a:solidFill>
              </a:defRPr>
            </a:pPr>
            <a:r>
              <a:t>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34856" y="4297680"/>
            <a:ext cx="2697480" cy="10972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9198864" y="4361688"/>
            <a:ext cx="256032" cy="25603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00616" y="4343400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7D32"/>
                </a:solidFill>
              </a:defRPr>
            </a:pPr>
            <a:r>
              <a:t>Implementation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226296" y="4626864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1A"/>
                </a:solidFill>
              </a:defRPr>
            </a:pPr>
            <a:r>
              <a:t>Approve each story before</a:t>
            </a:r>
            <a:br/>
            <a:r>
              <a:t>coding starts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26296" y="5166360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E7D32"/>
                </a:solidFill>
              </a:defRPr>
            </a:pPr>
            <a:r>
              <a:t>↻ Per story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</a:defRPr>
            </a:pPr>
            <a:r>
              <a:t>↻ = You can send it back for revision   •   Blue = you talk directly to Claude   •   Green = agents generate, you approve   •   Every step commits &amp; pushes to GitHub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</a:defRPr>
            </a:pPr>
            <a:r>
              <a:t>Who Drives Each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Rotate the keyboard. The person best suited to review each step should be driving.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097280"/>
            <a:ext cx="411480" cy="320040"/>
          </a:xfrm>
          <a:prstGeom prst="roundRect">
            <a:avLst/>
          </a:prstGeom>
          <a:solidFill>
            <a:srgbClr val="2D6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097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</a:defRPr>
            </a:pPr>
            <a:r>
              <a:t>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097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6A9F"/>
                </a:solidFill>
              </a:defRPr>
            </a:pPr>
            <a:r>
              <a:t>Engineer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6A9F"/>
                </a:solidFill>
              </a:defRPr>
            </a:pPr>
            <a:r>
              <a:t>You + Claude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1481328"/>
            <a:ext cx="411480" cy="320040"/>
          </a:xfrm>
          <a:prstGeom prst="roundRect">
            <a:avLst/>
          </a:prstGeom>
          <a:solidFill>
            <a:srgbClr val="2D6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4813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</a:defRPr>
            </a:pPr>
            <a:r>
              <a:t>Pick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14813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6A9F"/>
                </a:solidFill>
              </a:defRPr>
            </a:pPr>
            <a:r>
              <a:t>Whole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4813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6A9F"/>
                </a:solidFill>
              </a:defRPr>
            </a:pPr>
            <a:r>
              <a:t>You + Claude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1865376"/>
            <a:ext cx="411480" cy="320040"/>
          </a:xfrm>
          <a:prstGeom prst="roundRect">
            <a:avLst/>
          </a:prstGeom>
          <a:solidFill>
            <a:srgbClr val="2D6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186537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</a:defRPr>
            </a:pPr>
            <a:r>
              <a:t>Read PRD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86537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6A9F"/>
                </a:solidFill>
              </a:defRPr>
            </a:pPr>
            <a:r>
              <a:t>Everyone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86537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6A9F"/>
                </a:solidFill>
              </a:defRPr>
            </a:pPr>
            <a:r>
              <a:t>You + Claude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2249424"/>
            <a:ext cx="411480" cy="320040"/>
          </a:xfrm>
          <a:prstGeom prst="roundRect">
            <a:avLst/>
          </a:prstGeom>
          <a:solidFill>
            <a:srgbClr val="2D6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24942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</a:defRPr>
            </a:pPr>
            <a:r>
              <a:t>Refine PRD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249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6A9F"/>
                </a:solidFill>
              </a:defRPr>
            </a:pPr>
            <a:r>
              <a:t>Product Manager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24942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6A9F"/>
                </a:solidFill>
              </a:defRPr>
            </a:pPr>
            <a:r>
              <a:t>You + Claude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2633472"/>
            <a:ext cx="411480" cy="320040"/>
          </a:xfrm>
          <a:prstGeom prst="roundRect">
            <a:avLst/>
          </a:prstGeom>
          <a:solidFill>
            <a:srgbClr val="2D6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26334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</a:defRPr>
            </a:pPr>
            <a:r>
              <a:t>Review Questions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26334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6A9F"/>
                </a:solidFill>
              </a:defRPr>
            </a:pPr>
            <a:r>
              <a:t>Product Manager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26334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6A9F"/>
                </a:solidFill>
              </a:defRPr>
            </a:pPr>
            <a:r>
              <a:t>You + Claude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71600" y="3017520"/>
            <a:ext cx="411480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017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</a:defRPr>
            </a:pPr>
            <a:r>
              <a:t>Execution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3017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</a:defRPr>
            </a:pPr>
            <a:r>
              <a:t>Tech Lead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3017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E7D32"/>
                </a:solidFill>
              </a:defRPr>
            </a:pPr>
            <a:r>
              <a:t>Agents + You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71600" y="3401568"/>
            <a:ext cx="411480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34015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</a:defRPr>
            </a:pPr>
            <a: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340156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</a:defRPr>
            </a:pPr>
            <a:r>
              <a:t>Tech Lead + PM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4015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E7D32"/>
                </a:solidFill>
              </a:defRPr>
            </a:pPr>
            <a:r>
              <a:t>Agents + You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71600" y="3785616"/>
            <a:ext cx="411480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20240" y="378561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</a:defRPr>
            </a:pPr>
            <a:r>
              <a:t>Technical Design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378561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</a:defRPr>
            </a:pPr>
            <a:r>
              <a:t>Architect / Sr Eng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378561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E7D32"/>
                </a:solidFill>
              </a:defRPr>
            </a:pPr>
            <a:r>
              <a:t>Agents + You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71600" y="4169664"/>
            <a:ext cx="411480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416966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</a:defRPr>
            </a:pPr>
            <a:r>
              <a:t>UI Prototype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416966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</a:defRPr>
            </a:pPr>
            <a:r>
              <a:t>Whole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416966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E7D32"/>
                </a:solidFill>
              </a:defRPr>
            </a:pPr>
            <a:r>
              <a:t>Agents + You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371600" y="4553712"/>
            <a:ext cx="411480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20240" y="455371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</a:defRPr>
            </a:pPr>
            <a:r>
              <a:t>User Stories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0" y="455371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</a:defRPr>
            </a:pPr>
            <a:r>
              <a:t>PM + Tech Lead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455371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E7D32"/>
                </a:solidFill>
              </a:defRPr>
            </a:pPr>
            <a:r>
              <a:t>Agents + You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371600" y="4937760"/>
            <a:ext cx="411480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4937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</a:defRPr>
            </a:pPr>
            <a:r>
              <a:t>Validation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4937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</a:defRPr>
            </a:pPr>
            <a:r>
              <a:t>Tech Lead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4937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E7D32"/>
                </a:solidFill>
              </a:defRPr>
            </a:pPr>
            <a:r>
              <a:t>Agents + You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71600" y="5321808"/>
            <a:ext cx="411480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20240" y="53218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</a:defRPr>
            </a:pPr>
            <a:r>
              <a:t>Jira Sync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0" y="53218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</a:defRPr>
            </a:pPr>
            <a:r>
              <a:t>Anyone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53218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E7D32"/>
                </a:solidFill>
              </a:defRPr>
            </a:pPr>
            <a:r>
              <a:t>Agents + You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371600" y="5705856"/>
            <a:ext cx="411480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20240" y="570585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</a:defRPr>
            </a:pPr>
            <a:r>
              <a:t>Implementation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0" y="570585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</a:defRPr>
            </a:pPr>
            <a:r>
              <a:t>Engineer(s)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0" y="570585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E7D32"/>
                </a:solidFill>
              </a:defRPr>
            </a:pPr>
            <a:r>
              <a:t>Agents +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